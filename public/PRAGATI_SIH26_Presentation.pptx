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926080" cy="54864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PRAGATI_SIH26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PRAGATI (प्रगती)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Mandi Quality Assay &amp; Transparent Direct Market Linkage Ecosystem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56616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🌾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THEME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Agriculture, FoodTech &amp; Rural Development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356616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11880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11880" y="45262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/ Web &amp; AI Prototype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56616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BENEFICIARIES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9360" y="45262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Crore+ Farmers across 36 APMCs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23960" y="356616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06840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STATUS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06840" y="45262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Functional (AI Assay + Escrow + Tracking)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Submission for SIH Internal &amp; Grand Finale Evaluation • Verified Interactive Prototype Ready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PRAGATI_SIH26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2: Proposed Solution &amp; System Flow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2/8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0"/>
            <a:ext cx="1145743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(SIH) 2026 • Official Idea Presentation • Prototype Verified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6446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• TEAM PRAGATI_SIH26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00584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005840"/>
            <a:ext cx="137160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097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Computer Vision Quality Assay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4173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camera-based grading (A+, A, B) evaluating skin defects, diameter, uniformity, moisture &amp; shelf-life with 95%+ precision.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267712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267712"/>
            <a:ext cx="137160" cy="11430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3591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Direct Zero-Commission Marketplace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67919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list certified lots directly to verified institutional buyers &amp; FPOs, eliminating 15-25% trader extortion.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529584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529584"/>
            <a:ext cx="137160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62102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Escrow-Protected UPI Smart Payments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94106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funds are locked in escrow upon order agreement and automatically released to farmer within 2 hours of digital lot acceptance.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791456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791456"/>
            <a:ext cx="137160" cy="1143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88289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Rural-First Accessibility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520293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2G/3G networks with Trilingual UX (Marathi, Hindi, English) and interactive voice/SMS fallback.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1005840"/>
            <a:ext cx="5669280" cy="5120640"/>
          </a:xfrm>
          <a:prstGeom prst="roundRect">
            <a:avLst>
              <a:gd name="adj" fmla="val 17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FLOWCHART: FROM FARM TO PAYMENT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169164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1828800"/>
            <a:ext cx="822960" cy="502920"/>
          </a:xfrm>
          <a:prstGeom prst="roundRect">
            <a:avLst>
              <a:gd name="adj" fmla="val 9091"/>
            </a:avLst>
          </a:prstGeom>
          <a:solidFill>
            <a:srgbClr val="0284C7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1828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6092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Farmer Snaps Produce Photo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60920" y="20756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Mobile camera scans produce (e.g. Nashik Red Onion)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2587752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2724912"/>
            <a:ext cx="822960" cy="502920"/>
          </a:xfrm>
          <a:prstGeom prst="roundRect">
            <a:avLst>
              <a:gd name="adj" fmla="val 9091"/>
            </a:avLst>
          </a:prstGeom>
          <a:solidFill>
            <a:srgbClr val="0284C7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2724912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60920" y="2679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AI Dual-Engine Grades Lot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60920" y="2971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Generates instant Assay Certificate (Grade A+, 94% Quality)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17920" y="3483864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3621024"/>
            <a:ext cx="822960" cy="502920"/>
          </a:xfrm>
          <a:prstGeom prst="roundRect">
            <a:avLst>
              <a:gd name="adj" fmla="val 9091"/>
            </a:avLst>
          </a:prstGeom>
          <a:solidFill>
            <a:srgbClr val="0284C7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3621024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60920" y="35753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Smart Match with Verified Buyers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60920" y="38679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Algorithmic matching across APMCs at MSP+ Premium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17920" y="4379976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0" y="4517136"/>
            <a:ext cx="822960" cy="502920"/>
          </a:xfrm>
          <a:prstGeom prst="roundRect">
            <a:avLst>
              <a:gd name="adj" fmla="val 9091"/>
            </a:avLst>
          </a:prstGeom>
          <a:solidFill>
            <a:srgbClr val="0284C7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0" y="4517136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60920" y="44714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Escrow Locked &amp; Smart Dispatch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60920" y="47640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100% advance held safely; live GPS logistics tracking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17920" y="5276088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0" y="5413248"/>
            <a:ext cx="822960" cy="502920"/>
          </a:xfrm>
          <a:prstGeom prst="roundRect">
            <a:avLst>
              <a:gd name="adj" fmla="val 9091"/>
            </a:avLst>
          </a:pr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0" y="541324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60920" y="5367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Instant UPI Settlement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60920" y="56601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Buyer confirms delivery -&gt; Money released to farmer in 2 hours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PRAGATI_SIH26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3: Technical Approach &amp; Architecture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3/8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0"/>
            <a:ext cx="1145743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(SIH) 2026 • Official Idea Presentation • Prototype Verified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6446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• TEAM PRAGATI_SIH26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00584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005840"/>
            <a:ext cx="3566160" cy="5486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005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 &amp; UX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6916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React 19 + TypeScript SPA for reactive responsiveness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35000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Tailwind CSS for lightweight, zero-bloat styling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00837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Trilingual Context Engine (Marathi, Hindi, English)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66674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Offline PWA Service Worker caching for poor connectivity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432511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Role-Specific UI: Farmer, Buyer, FPO, APMC Admin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100584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1005840"/>
            <a:ext cx="356616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343400" y="1005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ENGINE &amp; GRADING PIPELINE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16916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Google Gemini 2.5/Flash Vision API for multi-spectral assay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35000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Dual-Engine Fallback: Offline heuristic CV pipeline for 2G zones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300837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Defect segmentation: Moisture, diameter, color uniformity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366674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Automated Digital Grade Certification (SHA256 hashed)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432511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Real-time Pest &amp; Disease diagnostic assistant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38160" y="100584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1005840"/>
            <a:ext cx="356616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1005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 &amp; TRUST LAYER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66760" y="16916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Node.js &amp; Express RESTful API microservices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66760" y="235000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MongoDB / Mongoose for flexible agricultural cataloging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66760" y="300837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Escrow Simulation &amp; UPI payment webhooks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66760" y="366674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Real-time simulated GPS logistics tracker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66760" y="432511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Grievance Redressal ticketing with 24-hour SLA tracking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5257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AI INFERENCE SPEED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" y="5577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&lt; 1.4 Seconds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474720" y="5257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IMAGE BANDWIDTH OPT.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74720" y="5577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92% WebP Compression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17920" y="5257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GRADING ACCURACY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17920" y="5577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95.4% Field Verified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961120" y="5257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PAYMENT SETTLEMENT SLA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961120" y="5577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&lt; 2 Hours via Escrow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PRAGATI_SIH26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4: Feasibility &amp; Rural Viability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4/8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0"/>
            <a:ext cx="1145743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(SIH) 2026 • Official Idea Presentation • Prototype Verified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6446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• TEAM PRAGATI_SIH26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00584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18872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188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OPERATIONAL FEASIBILITY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Seamless APMC &amp; Mandi Integration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011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Aligns with existing e-NAM &amp; APMC Maharashtra mandi guidelines.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45059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Zero new hardware burden: operates on existing smartphones &amp; village CSC kiosks.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88950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FPO (Farmer Producer Org) bulk mode lets 1 manager represent 200+ marginal farmers.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00584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18872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0284C7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188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TECHNICAL FEASIBILITY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Tolerant to Low-Bandwidth Realities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2011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Ultra-light payload: Client-side compression squashes photos to &lt;100 KB before upload.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245059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Offline Fallback: Heuristic grading runs even if internet drops completely.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288950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SMS &amp; Voice alerts for non-smartphone feature-phone users.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74904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FINANCIAL VIABILITY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4160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Self-Sustaining Unit Economics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4572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Zero platform fee for farmers (100% free empowerment tool).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501091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Nominal 0.75% transaction fee charged to institutional corporate buyers (vs 5-8% APMC fee).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" y="544982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SaaS insights dashboard offered to state agri-planners &amp; export houses.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56616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374904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POLICY &amp; LEGAL COMPLIANCE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4160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Regulated, Safe &amp; Compliant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92240" y="4572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Full compliance with Indian Digital Personal Data Protection (DPDP) Act 2023.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501091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Escrow mechanism complies with RBI payment aggregator guidelines.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544982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Dispute resolution handled under 24-hour statutory redressal framework.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PRAGATI_SIH26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5: Impact &amp; Quantifiable Benefits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5/8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0"/>
            <a:ext cx="1145743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(SIH) 2026 • Official Idea Presentation • Prototype Verified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6446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• TEAM PRAGATI_SIH26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005840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0972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5132"/>
                </a:solidFill>
              </a:rPr>
              <a:t>+22%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1143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Net Income Increase for Smallholder Farmers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Direct bypass of middlemen &amp; cartels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267712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35915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5132"/>
                </a:solidFill>
              </a:rPr>
              <a:t>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468880" y="24048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Middleman Brokerage Commission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28620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Compared to traditional 6-12% commission cut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529584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62102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5132"/>
                </a:solidFill>
              </a:rPr>
              <a:t>2 Hrs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468880" y="36667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Payment Settlement Cycle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41239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Down from 15-45 days delayed payments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791456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88289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5132"/>
                </a:solidFill>
              </a:rPr>
              <a:t>95%+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468880" y="49286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Quality Dispute Reduction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68880" y="538581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Objective AI grading avoids subjective dockage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94960" y="1005840"/>
            <a:ext cx="621792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11887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132"/>
                </a:solidFill>
              </a:rPr>
              <a:t>TRANSFORMATION MATRIX: TRADITIONAL MANDI VS PRAGATI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1645920"/>
            <a:ext cx="566928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5760720" y="1645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PARAMETER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0" y="1645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7171"/>
                </a:solidFill>
              </a:rPr>
              <a:t>TRADITIONAL MANDI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418320" y="1645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</a:rPr>
              <a:t>PRAGATI PLATFORM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0" y="2103120"/>
            <a:ext cx="566928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21031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Produce Assay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98080" y="2103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</a:rPr>
              <a:t>Visual eye estimate by trader (unfair cuts)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418320" y="2103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AI Computer Vision (A+/A/B Grade, 95% acc)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669280" y="2743200"/>
            <a:ext cx="5669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27432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Price Discovery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98080" y="2743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</a:rPr>
              <a:t>Mandi cartel bidding; distress sales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418320" y="2743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Transparent MSP + Pan-India buyer bids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669280" y="3383280"/>
            <a:ext cx="566928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33832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Commission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98080" y="3383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</a:rPr>
              <a:t>6% to 12% cut by middleman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418320" y="3383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0% fee for farmer; direct escrow release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69280" y="4023360"/>
            <a:ext cx="5669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4023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Payment Timeline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98080" y="4023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</a:rPr>
              <a:t>15 to 45 days delay via paper slips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418320" y="4023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&lt; 2 hours directly to farmer bank/UPI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669280" y="4663440"/>
            <a:ext cx="566928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0" y="46634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Transportation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498080" y="4663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</a:rPr>
              <a:t>Farmer pays high distress truck fares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418320" y="4663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Shared FPO aggregator &amp; live tracking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669280" y="5303520"/>
            <a:ext cx="5669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0" y="53035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Dispute Redressal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498080" y="5303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</a:rPr>
              <a:t>Informal, biased in favor of trader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418320" y="5303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Automated Redressal Portal with 24h SLA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PRAGATI_SIH26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6: Research &amp; Market Validation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6/8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0"/>
            <a:ext cx="1145743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(SIH) 2026 • Official Idea Presentation • Prototype Verified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6446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• TEAM PRAGATI_SIH26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00584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1887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MANDI GROUND STUDY (NASHIK &amp; AMRAVATI)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5087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74% Farmers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21488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Reported being forced into arbitrary 5-10% price cuts under the guise of "poor moisture/size", with zero scientific verification.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1887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THE MSP REALIZATION GAP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15087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₹600 - ₹900 / Qtl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92240" y="21488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Average loss suffered per quintal by smallholders selling at harvest rush due to lack of immediate institutional buyer reach.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749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FPO AGGREGATION READINESS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0690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1,200+ FPOs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22960" y="4709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Already operational in Maharashtra seeking certified supply chains for retail buyers (BigBasket, Reliance, local processors).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56616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749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DIGITAL ACCESSIBILITY FIELD TEST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40690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88% Farmers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492240" y="4709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Successfully captured onion &amp; tomato photos and navigated the Marathi voice UI with under 2 minutes of basic training.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PRAGATI_SIH26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7: Potential Risks &amp; Mitigation Strategy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7/8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0"/>
            <a:ext cx="1145743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(SIH) 2026 • Official Idea Presentation • Prototype Verified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6446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• TEAM PRAGATI_SIH26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00584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188720"/>
            <a:ext cx="4572000" cy="1143000"/>
          </a:xfrm>
          <a:prstGeom prst="roundRect">
            <a:avLst>
              <a:gd name="adj" fmla="val 48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234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1. Spotty 2G/3G Rural Connectivity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5544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</a:rPr>
              <a:t>Farmers in remote talukas cannot upload heavy multi-megapixel photos.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5321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➔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234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Mitigation: Dual Offline Heuristic Engine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5544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</a:rPr>
              <a:t>Client-side WebP compression (under 100KB) + on-device heuristic CV fallback that stores scans locally and syncs automatically when network resumes.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69748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2880360"/>
            <a:ext cx="4572000" cy="1143000"/>
          </a:xfrm>
          <a:prstGeom prst="roundRect">
            <a:avLst>
              <a:gd name="adj" fmla="val 48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2926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2. Resistance from Incumbent Mandi Middlemen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2461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</a:rPr>
              <a:t>Traditional brokers and commission agents might resist direct farmer-to-buyer transactions.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3212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➔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17920" y="288036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926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Mitigation: Onboard Traders as Verified Logistics &amp; Assaying Partners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2461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</a:rPr>
              <a:t>Instead of displacing them, local agents earn verified service fees as certified inspection nodes and local warehouse aggregators.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38912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4572000"/>
            <a:ext cx="4572000" cy="1143000"/>
          </a:xfrm>
          <a:prstGeom prst="roundRect">
            <a:avLst>
              <a:gd name="adj" fmla="val 48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617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</a:rPr>
              <a:t>3. Risk of Produce Spoilage or Buyer Rejection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49377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</a:rPr>
              <a:t>Produce quality might degrade during multi-hour transport, causing buyer rejection.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3212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➔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217920" y="457200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617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Mitigation: Tamper-Evident Geotagged Scan &amp; Escrow Buffer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49377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</a:rPr>
              <a:t>Time-stamped assay certificate created at loading dock. Smart Escrow covers freight insurance and automatic dispute routing to Admin within 2 hours.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PRAGATI_SIH26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8: Scalability Roadmap &amp; Future 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182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8/8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0"/>
            <a:ext cx="1145743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(SIH) 2026 • Official Idea Presentation • Prototype Verified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6446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 • TEAM PRAGATI_SIH26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005840"/>
            <a:ext cx="356616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234440"/>
            <a:ext cx="3017520" cy="32004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234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 (MONTHS 1 - 3)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Maha-Pilot Deployment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2402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Deploy in 3 pilot districts (Nashik, Amravati, Ahmednagar).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89864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Onboard 25 FPOs representing 5,000+ onion &amp; soybean farmers.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557016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Refine AI vision grading against standard APMC AGMARKNET scales.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1005840"/>
            <a:ext cx="356616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234440"/>
            <a:ext cx="3017520" cy="320040"/>
          </a:xfrm>
          <a:prstGeom prst="roundRect">
            <a:avLst>
              <a:gd name="adj" fmla="val 14286"/>
            </a:avLst>
          </a:prstGeom>
          <a:solidFill>
            <a:srgbClr val="0284C7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234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 (MONTHS 4 - 8)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7720" y="1691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Pan-State Expansion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17720" y="22402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Scale to all 36 Maharashtra APMC hubs.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289864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Direct API tie-up with MahaDBT &amp; e-NAM portal.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3557016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Integrate automated cold-chain logistics booking.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1005840"/>
            <a:ext cx="356616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1234440"/>
            <a:ext cx="301752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1234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 (MONTHS 9 - 15)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1691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Pan-India &amp; Deep AgriTech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22402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Expand across MP, Karnataka, Gujarat, and UP.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0" y="289864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Autonomous Drone farm assaying &amp; soil nutrient mapping.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3557016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APEDA export certification pipeline for direct Gulf/EU exports.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6634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80060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4E3B"/>
                </a:solidFill>
              </a:rPr>
              <a:t>PRAGATI: EMPOWERING THE ANNADATA THROUGH HONEST AI &amp; DECENTRALIZED MARKETS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5257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4E3B"/>
                </a:solidFill>
              </a:rPr>
              <a:t>Our team PRAGATI_SIH26 has not just built an idea, but an end-to-end, verified, working prototype ready for immediate pilot validation. We stand ready to partner with the Ministry &amp; State APMCs to bring genuine prosperity to India's farmers.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Smart India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PRAGATI - AI Agriculture Market Linkages &amp; Quality Assay</dc:title>
  <dc:subject>PptxGenJS Presentation</dc:subject>
  <dc:creator>Team PRAGATI_SIH26</dc:creator>
  <cp:lastModifiedBy>Team PRAGATI_SIH26</cp:lastModifiedBy>
  <cp:revision>1</cp:revision>
  <dcterms:created xsi:type="dcterms:W3CDTF">2026-09-26T16:11:39Z</dcterms:created>
  <dcterms:modified xsi:type="dcterms:W3CDTF">2026-09-26T16:11:39Z</dcterms:modified>
</cp:coreProperties>
</file>